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968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8B7F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FFB62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 the Bait: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Defeating Phishing Attacks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fake emails, fraudulent websites, and social engineering tricks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09728" cy="109728"/>
          </a:xfrm>
          <a:prstGeom prst="rect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Fatima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Security Awareness Program</a:t>
            </a:r>
            <a:endParaRPr lang="en-US" sz="1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5513B0E-88E9-6D90-B6F5-4E29D8D8E402}"/>
              </a:ext>
            </a:extLst>
          </p:cNvPr>
          <p:cNvSpPr/>
          <p:nvPr/>
        </p:nvSpPr>
        <p:spPr>
          <a:xfrm>
            <a:off x="822960" y="5715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</a:t>
            </a:r>
            <a:r>
              <a:rPr lang="en-US" sz="20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Internship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B627">
              <a:alpha val="85000"/>
            </a:srgbClr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a trusted source — a bank, a colleague, a well-known brand — to trick you into revealing sensitive information or installing malware.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68880" y="25420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a phishing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33192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click a phishing link at least once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4096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caused by phishing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051560"/>
            <a:ext cx="4023360" cy="5120640"/>
          </a:xfrm>
          <a:prstGeom prst="roundRect">
            <a:avLst>
              <a:gd name="adj" fmla="val 1818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Attack Unfolds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02752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 a convincing fake message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863840" y="25786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02752" y="25328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sent to mass or targeted victims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863840" y="34198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2752" y="337413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 or opens attachment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863840" y="4261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63840" y="4261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02752" y="421538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page harvests credentials, or malware installs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863840" y="51023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0" y="5102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02752" y="50566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stolen data or system access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 Attacks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B627">
              <a:alpha val="85000"/>
            </a:srgbClr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impersonating banks, vendors, or services, urging urgent action.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664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researched around a specific person or role.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16642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CEOs, CFOs — for high-value fraud.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4472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 with malicious links or urgent requests.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4472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 — attacker impersonates IT, a bank, or a boss on the phone.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880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7532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75320" y="34472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previously-sent email is copied and resent with a malicious link.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3B5C">
              <a:alpha val="85000"/>
            </a:srgbClr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69494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security@paypa1-support.com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you@company.com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URGENT: Your Account Will Be Suspended!!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6492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6492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
We detected unusual activity on your account. </a:t>
            </a:r>
            <a:r>
              <a:rPr lang="en-US" sz="1200" b="1" u="sng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immediately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verify your identity or your account will be permanently suspended within 24 hours.
</a:t>
            </a:r>
            <a:r>
              <a:rPr lang="en-US" sz="1200" u="sng" dirty="0">
                <a:solidFill>
                  <a:srgbClr val="8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http://paypal-secure-verify.info/login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Failure to act will result in loss of access.
Regards,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 Team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051560"/>
            <a:ext cx="3931920" cy="5120640"/>
          </a:xfrm>
          <a:prstGeom prst="roundRect">
            <a:avLst>
              <a:gd name="adj" fmla="val 1860"/>
            </a:avLst>
          </a:prstGeom>
          <a:solidFill>
            <a:srgbClr val="211A3D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Spot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175564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1312" y="162763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— 'paypa1' uses the number 1, not the letter 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2468880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11312" y="23408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threatening subject line pressuring quick 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3182112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11312" y="30540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'Valued Customer' instead of your name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3895344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1312" y="37673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— hovering shows a different domain than expected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4608576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11312" y="4480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or unnatural phrasing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01000" y="532180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11312" y="519379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click before verifying independently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3B5C">
              <a:alpha val="85000"/>
            </a:srgbClr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Misspellings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amaz0n.com, paypa1.com — look-alike characters replace real letters.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1234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Padlock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login pages always use HTTPS; missing padlock is a red flag.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Domain Extension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or .info instead of the brand's real .com domain.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logos, broken layout, or outdated branding vs. the real site.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Pop-ups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'you've won' or 'account locked' pop-ups pushing immediate action.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Redirects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trusted-looking link lands you on an unrelated domain.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9F43">
              <a:alpha val="85000"/>
            </a:srgbClr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exploiting human psychology, not just technology. Attackers rely on these emotional triggers: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 or your account is suspended" — pressure prevents careful thinking.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719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12140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IT admin, or the police to make requests seem non-negotiable.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1719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2140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legal action, fines, or account loss trigger a panicked, quick response.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04164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won't believe this photo of you" — bait designed to make you click.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29768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3639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404164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colleague or known vendor's name and email signature style.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046720" y="34747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11A3D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75320" y="3639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4041648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fake gift, refund, or reward in exchange for 'quick verification'.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Case: CEO Fraud (BEC)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D23F">
              <a:alpha val="85000"/>
            </a:srgbClr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18520" cy="1188720"/>
          </a:xfrm>
          <a:prstGeom prst="roundRect">
            <a:avLst>
              <a:gd name="adj" fmla="val 6154"/>
            </a:avLst>
          </a:prstGeom>
          <a:solidFill>
            <a:srgbClr val="211A3D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Ubiquiti Networks (2015) — $46.7 Million Lost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impersonated company executives and a law firm via spoofed emails, instructing the finance department to wire funds to overseas accounts for a fake acquisition. No malware was used — just convincing, urgent emails.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211A3D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17296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sender addresses looked identical to real executives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81304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36118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verbal/secondary confirmation required for large wire transfers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45312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'confidential deal' framing discouraged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09320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4892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staff not trained to recognize BEC-style requests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514600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317296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65392" y="2971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large fund/data requests via a second channel (call, in person)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81304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65392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mandatory dual-approval policy for wire transfers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45312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4251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suspicious of any 'confidential, don't tell anyone' request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509320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65392" y="4892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— urgency is a manipulation tactic, not a reason to skip checks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Case: Google &amp; Facebook Scam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D23F">
              <a:alpha val="85000"/>
            </a:srgbClr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18520" cy="1188720"/>
          </a:xfrm>
          <a:prstGeom prst="roundRect">
            <a:avLst>
              <a:gd name="adj" fmla="val 6154"/>
            </a:avLst>
          </a:prstGeom>
          <a:solidFill>
            <a:srgbClr val="211A3D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Evaldas Rimasauskas (2013-2015) — $100+ Million Lost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man set up a fake company impersonating a real hardware vendor both firms used, then sent forged invoices and contracts via email. Both tech giants paid millions into fraudulent bank accounts over two years before detection.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211A3D"/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17296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invoices closely mimicked a legitimate, trusted vendor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81304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36118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 processed invoices without independent verification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45312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corporate documents and bank stamps looked convincing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093208"/>
            <a:ext cx="91440" cy="91440"/>
          </a:xfrm>
          <a:prstGeom prst="ellipse">
            <a:avLst/>
          </a:prstGeom>
          <a:solidFill>
            <a:srgbClr val="F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4892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went unnoticed for over two years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514600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317296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65392" y="2971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vendor bank details by phone before changing payment info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81304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65392" y="3611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invoices against a known vendor contact 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45312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4251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'updated bank account' request as high-risk by default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509320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65392" y="4892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trusted, well-known companies are not immune to phishing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Stay Safe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4ADE80">
              <a:alpha val="8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261872" y="1188720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to preview the real destination URL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82512" y="1417320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1417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931152" y="1188720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email addresses carefully — check the full domain, not just the display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2569464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261872" y="2340864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after clicking an email link — type the site's URL manually instead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249424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82512" y="2569464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2512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931152" y="2340864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important accounts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" y="3721608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721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261872" y="3493008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software, browsers, and antivirus tools updated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401568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82512" y="3721608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82512" y="3721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931152" y="3493008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or urgent requests via a second channel (phone call, in person)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553712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" y="4873752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261872" y="4645152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instead of just deleting them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553712"/>
            <a:ext cx="5349240" cy="1042416"/>
          </a:xfrm>
          <a:prstGeom prst="roundRect">
            <a:avLst>
              <a:gd name="adj" fmla="val 6140"/>
            </a:avLst>
          </a:prstGeom>
          <a:solidFill>
            <a:srgbClr val="211A3D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82512" y="4873752"/>
            <a:ext cx="402336" cy="402336"/>
          </a:xfrm>
          <a:prstGeom prst="ellipse">
            <a:avLst/>
          </a:prstGeom>
          <a:solidFill>
            <a:srgbClr val="4ADE80">
              <a:alpha val="18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82512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931152" y="4645152"/>
            <a:ext cx="4434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OTPs, or verification codes with anyone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Suspect You've Been Phished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9F43">
              <a:alpha val="85000"/>
            </a:srgbClr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1207008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207008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network immediately to stop further data loss or malware spread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2048256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2048256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affected password right away — and any account reusing that password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2889504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2889504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incident to IT/security immediately — don't wait or feel embarrassed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3730752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3730752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or verify MFA on the compromised account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88720" y="4572000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17320" y="4572000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 for suspicious activity over the following weeks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88720" y="5413248"/>
            <a:ext cx="10378440" cy="420624"/>
          </a:xfrm>
          <a:prstGeom prst="roundRect">
            <a:avLst>
              <a:gd name="adj" fmla="val 13043"/>
            </a:avLst>
          </a:prstGeom>
          <a:solidFill>
            <a:srgbClr val="211A3D"/>
          </a:solidFill>
          <a:ln w="9525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17320" y="5413248"/>
            <a:ext cx="9966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delete evidence — forward the phishing email to security for 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Quiz: Spot the Phish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4572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B627">
              <a:alpha val="85000"/>
            </a:srgbClr>
          </a:solidFill>
          <a:ln w="1270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92640" y="45720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learned. For each scenario, decide: Phishing or Legitimate?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321040" cy="1033272"/>
          </a:xfrm>
          <a:prstGeom prst="roundRect">
            <a:avLst>
              <a:gd name="adj" fmla="val 6195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"IT-Support@yourcompany-helpdesk.net" asks you to reset your password within 1 hour or lose access.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098280" y="1691640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F3B5C">
              <a:alpha val="85000"/>
            </a:srgbClr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98280" y="16916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8321040" cy="1033272"/>
          </a:xfrm>
          <a:prstGeom prst="roundRect">
            <a:avLst>
              <a:gd name="adj" fmla="val 6195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770632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bank's app sends a push notification (not a link) asking you to approve a login you just initiated yourself.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86207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4ADE80">
              <a:alpha val="8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98280" y="286207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8321040" cy="1033272"/>
          </a:xfrm>
          <a:prstGeom prst="roundRect">
            <a:avLst>
              <a:gd name="adj" fmla="val 6195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959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41064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message says you've won a prize and must click a bit.ly link and enter your card details to claim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4032504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F3B5C">
              <a:alpha val="85000"/>
            </a:srgbClr>
          </a:solidFill>
          <a:ln w="12700">
            <a:solidFill>
              <a:srgbClr val="FF3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98280" y="403250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20056"/>
            <a:ext cx="8321040" cy="1033272"/>
          </a:xfrm>
          <a:prstGeom prst="roundRect">
            <a:avLst>
              <a:gd name="adj" fmla="val 6195"/>
            </a:avLst>
          </a:prstGeom>
          <a:solidFill>
            <a:srgbClr val="211A3D"/>
          </a:solidFill>
          <a:ln w="12700">
            <a:solidFill>
              <a:srgbClr val="8B7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1297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111496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email from your manager's correct address references a meeting you both actually attended.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280" y="5202936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4ADE80">
              <a:alpha val="8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098280" y="520293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7F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FFB62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Stay Secure.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verify first, always.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Iqra Fatima   |   Muhammad Taimoor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1297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2026-08-22T13:53:10Z</dcterms:created>
  <dcterms:modified xsi:type="dcterms:W3CDTF">2026-08-22T13:59:31Z</dcterms:modified>
</cp:coreProperties>
</file>